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49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8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9724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5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mise en relation de talents africains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286000" cy="36576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06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Lemine Dramé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5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1 — Réseau &amp; Télécommunication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Juillet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36576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24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078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4114800" cy="9144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65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 : palette et typographie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4114800" cy="9144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06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7614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: arborescence et pages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28416"/>
            <a:ext cx="4114800" cy="9144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6027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: JavaScript, Bootstrap, CSS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69664"/>
            <a:ext cx="4114800" cy="9144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024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1078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et déploiement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645920"/>
            <a:ext cx="4114800" cy="9144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8653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49240" y="1920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 et solutions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487168"/>
            <a:ext cx="4114800" cy="9144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706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27614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utilisées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328416"/>
            <a:ext cx="4114800" cy="9144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547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36027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et perspectives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4169664"/>
            <a:ext cx="4114800" cy="9144"/>
          </a:xfrm>
          <a:prstGeom prst="rect">
            <a:avLst/>
          </a:prstGeom>
          <a:solidFill>
            <a:srgbClr val="D5CAB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36576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L'Afrique a beaucoup de talents dans le numérique — développeurs, designers, freelances — mais peu de plateformes adaptées pour les mettre en relation avec des recruteurs. AfriTalent répond à ce besoin.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8229600" cy="9144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933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site web vitrine permettant aux talents de présenter leur profil et leurs compétences, et aux entreprises de les contacter facilement.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07792"/>
            <a:ext cx="8229600" cy="9144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public cible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54864" cy="274320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40156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Jeunes diplômés et freelances africains qui cherchent à se faire connaître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867912"/>
            <a:ext cx="54864" cy="274320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840480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PME, startups et recruteurs qui cherchent des profils qualifiés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 — Palette de couleurs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36576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 défini toutes les couleurs dans des variables CSS (:root) pour pouvoir les réutiliser facilement dans tout le fichier style.css.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481328" cy="1188720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2763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#C49D83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67004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Terracotta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--color-primary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21408" y="1371600"/>
            <a:ext cx="1481328" cy="1188720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11" name="Text 9"/>
          <p:cNvSpPr/>
          <p:nvPr/>
        </p:nvSpPr>
        <p:spPr>
          <a:xfrm>
            <a:off x="2121408" y="162763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4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#D5CABC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21408" y="267004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21408" y="2926080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--color-secondary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85616" y="1371600"/>
            <a:ext cx="1481328" cy="1188720"/>
          </a:xfrm>
          <a:prstGeom prst="rect">
            <a:avLst/>
          </a:prstGeom>
          <a:solidFill>
            <a:srgbClr val="BDA18A"/>
          </a:solidFill>
          <a:ln/>
        </p:spPr>
      </p:sp>
      <p:sp>
        <p:nvSpPr>
          <p:cNvPr id="15" name="Text 13"/>
          <p:cNvSpPr/>
          <p:nvPr/>
        </p:nvSpPr>
        <p:spPr>
          <a:xfrm>
            <a:off x="3785616" y="162763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#BDA18A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85616" y="267004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 doux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85616" y="2926080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--color-accent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49824" y="1371600"/>
            <a:ext cx="1481328" cy="1188720"/>
          </a:xfrm>
          <a:prstGeom prst="rect">
            <a:avLst/>
          </a:prstGeom>
          <a:solidFill>
            <a:srgbClr val="F5EFE6"/>
          </a:solidFill>
          <a:ln/>
        </p:spPr>
      </p:sp>
      <p:sp>
        <p:nvSpPr>
          <p:cNvPr id="19" name="Text 17"/>
          <p:cNvSpPr/>
          <p:nvPr/>
        </p:nvSpPr>
        <p:spPr>
          <a:xfrm>
            <a:off x="5449824" y="162763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4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#F5EFE6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49824" y="267004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Crème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49824" y="2926080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--color-light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14032" y="1371600"/>
            <a:ext cx="1481328" cy="1188720"/>
          </a:xfrm>
          <a:prstGeom prst="rect">
            <a:avLst/>
          </a:prstGeom>
          <a:solidFill>
            <a:srgbClr val="5E4B3C"/>
          </a:solidFill>
          <a:ln/>
        </p:spPr>
      </p:sp>
      <p:sp>
        <p:nvSpPr>
          <p:cNvPr id="23" name="Text 21"/>
          <p:cNvSpPr/>
          <p:nvPr/>
        </p:nvSpPr>
        <p:spPr>
          <a:xfrm>
            <a:off x="7114032" y="1627632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#5E4B3C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14032" y="267004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 foncé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14032" y="2926080"/>
            <a:ext cx="1481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--color-dark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3291840"/>
            <a:ext cx="8229600" cy="9144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01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ces couleurs 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6758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 voulu une palette chaleureuse qui rappelle l'Afrique — des tons terracotta et sable — tout en restant sobre et professionnelle. Le crème (#F5EFE6) est utilisé comme fond de page pour éviter la fatigue visuelle du blanc pur.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 — Typographie et inspirations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36576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 (Google Fonts)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4864" cy="868680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7" name="Shape 5"/>
          <p:cNvSpPr/>
          <p:nvPr/>
        </p:nvSpPr>
        <p:spPr>
          <a:xfrm>
            <a:off x="512064" y="1234440"/>
            <a:ext cx="3877056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2984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4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Playfair Display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" y="159105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var(--font-title) — utilisée pour les titres de sections.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serif élégante qui donne un côté prestigieux au site.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54864" cy="868680"/>
          </a:xfrm>
          <a:prstGeom prst="rect">
            <a:avLst/>
          </a:prstGeom>
          <a:solidFill>
            <a:srgbClr val="BDA18A"/>
          </a:solidFill>
          <a:ln/>
        </p:spPr>
      </p:sp>
      <p:sp>
        <p:nvSpPr>
          <p:cNvPr id="11" name="Shape 9"/>
          <p:cNvSpPr/>
          <p:nvPr/>
        </p:nvSpPr>
        <p:spPr>
          <a:xfrm>
            <a:off x="4809744" y="1234440"/>
            <a:ext cx="3877056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956048" y="12984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56048" y="1591056"/>
            <a:ext cx="3566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var(--font-body) — utilisée pour le corps de texte, boutons, menus.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Sans-serif moderne, très lisible sur écran.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2402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dans style.css :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87168"/>
            <a:ext cx="8229600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487168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49D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@import url('https://fonts.googleapis.com/css2?family=Playfair+Display&amp;family=Poppins&amp;display=swap');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7200" y="2907792"/>
            <a:ext cx="8229600" cy="9144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17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6928" y="34015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3657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l'aspect épuré, la lisibilité et la simplicité de navigation. J'ai repris cette idée d'interface claire sans surcharge.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64608" y="34015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64608" y="36576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structure des profils : cartes avec photo, compétences, et bouton de contact. C'est ce que j'ai adapté pour les freelances.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Arborescence des fichiers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36576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4023360" cy="40416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3268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49D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NOM-Prenom-AfriTalent/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94360" y="1186891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index.html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594360" y="144109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freelances.html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594360" y="1695298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tarifs.html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594360" y="1949501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about.html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594360" y="220370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contact.html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594360" y="2457907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5CA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css/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594360" y="271211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49D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style.css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94360" y="296631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5CA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js/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594360" y="3220517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C49D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main.js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594360" y="347472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5CA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images/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594360" y="3728923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D5CA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docs/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594360" y="3983126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BDA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└── Presentation.pptx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594360" y="423733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README.md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594360" y="4491533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C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.gitignore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754880" y="8686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fichiers importants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126187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9D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1481328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design du site : variables :root, Bento Grid, animations, responsive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874520"/>
            <a:ext cx="4114800" cy="9144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192024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9D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213969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avec localStorage + navbar qui change au scroll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532888"/>
            <a:ext cx="4114800" cy="9144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578608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9D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2798064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 avec hero et grille Bento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191256"/>
            <a:ext cx="4114800" cy="9144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236976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9D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freelances.html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3456432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talents avec filtres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849624"/>
            <a:ext cx="4114800" cy="9144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89534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9D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contact.html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4114800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mise en relation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Pages du site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36576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comporte 5 pages HTML reliées par la même navbar et le même fichier style.css.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49D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3227832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: hero + Bento Grid catégories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91840" y="301752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49D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freelances.html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91840" y="3227832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talents avec filtres JS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26480" y="301752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49D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tarifs.html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26480" y="3227832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tarifaire des services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4846320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49D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about.html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57200" y="5056632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 et de l'équipe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773168" y="4846320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49D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contact.html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773168" y="5056632"/>
            <a:ext cx="40416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mise en relation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57200" y="4956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les maquettes ci-dessus par de vraies captures d'écran lors de la présentation</a:t>
            </a:r>
            <a:endParaRPr lang="en-US" sz="800" dirty="0"/>
          </a:p>
        </p:txBody>
      </p:sp>
      <p:pic>
        <p:nvPicPr>
          <p:cNvPr id="58" name="Image 57">
            <a:extLst>
              <a:ext uri="{FF2B5EF4-FFF2-40B4-BE49-F238E27FC236}">
                <a16:creationId xmlns:a16="http://schemas.microsoft.com/office/drawing/2014/main" id="{6AE2C474-ACE5-5C55-0101-0A395264C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9" y="1305357"/>
            <a:ext cx="2613103" cy="1683015"/>
          </a:xfrm>
          <a:prstGeom prst="roundRect">
            <a:avLst/>
          </a:prstGeom>
        </p:spPr>
      </p:pic>
      <p:pic>
        <p:nvPicPr>
          <p:cNvPr id="62" name="Image 61">
            <a:extLst>
              <a:ext uri="{FF2B5EF4-FFF2-40B4-BE49-F238E27FC236}">
                <a16:creationId xmlns:a16="http://schemas.microsoft.com/office/drawing/2014/main" id="{4B7B4A83-6377-E017-BFF4-7B7E465FC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305357"/>
            <a:ext cx="2912633" cy="1726611"/>
          </a:xfrm>
          <a:prstGeom prst="roundRect">
            <a:avLst/>
          </a:prstGeom>
        </p:spPr>
      </p:pic>
      <p:pic>
        <p:nvPicPr>
          <p:cNvPr id="60" name="Image 59">
            <a:extLst>
              <a:ext uri="{FF2B5EF4-FFF2-40B4-BE49-F238E27FC236}">
                <a16:creationId xmlns:a16="http://schemas.microsoft.com/office/drawing/2014/main" id="{263176EC-8BBC-34DD-F16B-D20FA81105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2634" y="1315918"/>
            <a:ext cx="3014619" cy="1699997"/>
          </a:xfrm>
          <a:prstGeom prst="roundRect">
            <a:avLst/>
          </a:prstGeom>
        </p:spPr>
      </p:pic>
      <p:pic>
        <p:nvPicPr>
          <p:cNvPr id="64" name="Image 63">
            <a:extLst>
              <a:ext uri="{FF2B5EF4-FFF2-40B4-BE49-F238E27FC236}">
                <a16:creationId xmlns:a16="http://schemas.microsoft.com/office/drawing/2014/main" id="{1BBEE650-AB7E-1ABF-CBE7-E0530601C2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3216911"/>
            <a:ext cx="3813046" cy="1690423"/>
          </a:xfrm>
          <a:prstGeom prst="round2DiagRect">
            <a:avLst>
              <a:gd name="adj1" fmla="val 16667"/>
              <a:gd name="adj2" fmla="val 1397"/>
            </a:avLst>
          </a:prstGeom>
        </p:spPr>
      </p:pic>
      <p:pic>
        <p:nvPicPr>
          <p:cNvPr id="66" name="Image 65">
            <a:extLst>
              <a:ext uri="{FF2B5EF4-FFF2-40B4-BE49-F238E27FC236}">
                <a16:creationId xmlns:a16="http://schemas.microsoft.com/office/drawing/2014/main" id="{84FB6929-6088-5F42-D85E-8D21F89FA7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6143" y="3211779"/>
            <a:ext cx="3813046" cy="1695555"/>
          </a:xfrm>
          <a:prstGeom prst="round2DiagRect">
            <a:avLst>
              <a:gd name="adj1" fmla="val 1872"/>
              <a:gd name="adj2" fmla="val 1432"/>
            </a:avLst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— JavaScript (main.js)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36576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J'ai utilisé JavaScript pour deux fonctionnalités principales dans main.js 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Dark mode avec localStorage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l'utilisateur clique sur le bouton, on bascule la classe dark-mode sur le body. On sauvegarde le choix dans localStorage pour qu'il soit conservé même en changeant de page ou en rechargeant.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361895"/>
            <a:ext cx="3749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saved = localStorage.getItem('theme');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4150462"/>
            <a:ext cx="3749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4663440" y="120700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Navbar dynamique au scroll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1481328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navbar change d'apparence quand on descend dans la page (ajout d'une ombre et d'un fond opaque). On écoute l'événement scroll sur window et on ajoute/enlève la classe scrolled.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2510942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4800600" y="3703320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80" dirty="0"/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082F7537-A391-2993-B7F2-1F2D62080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26" y="2281740"/>
            <a:ext cx="4571674" cy="2236315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CC21C2BC-3388-B03D-891F-697655EC0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487" y="2281740"/>
            <a:ext cx="3990587" cy="22363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— Bootstrap 5 et CSS avancé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36576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— composants utilisés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54864" cy="347472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+ Toggler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de navigation responsive, qui se collapse en hamburger sur mobile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347472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373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pour afficher les profils freelances (photo, nom, compétences)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54864" cy="347472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860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(col-*)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468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page en colonnes : 3 sur desktop, 1 sur mobile (col-md-4 col-12)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54864" cy="347472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346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01752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Étiquettes colorées pour les compétences des talents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54864" cy="347472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832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Boutons &amp; Forms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Boutons CTA et formulaire de contact avec validation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54864" cy="347472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9319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utilitaires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d-flex, gap, mt-3, py-5, text-center, shadow, etc.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63440" y="868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avancé — extraits de style.css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1188720"/>
            <a:ext cx="4206240" cy="331012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1252728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C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Variables dans :root */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00600" y="1401775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00600" y="1550822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49D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--color-primary:   #C49D83;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00600" y="1699870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5CA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--color-secondary: #D5CABC;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800600" y="1848917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EF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--color-light:     #F5EFE6;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00600" y="1997964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A085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--color-dark:      #5E4B3C;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00600" y="2147011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C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--font-title: 'Playfair Display',serif;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00600" y="2296058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C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--font-body:  'Poppins', sans-serif;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00600" y="2445106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C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--spacing-md: 20px;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00600" y="2594153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00600" y="2743200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00600" y="2892247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C7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Bento Grid — hero */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00600" y="3041294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.bento-grid {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800600" y="3190342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49D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display: grid;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800600" y="3339389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49D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grid-template-columns: repeat(3,1fr);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00600" y="3488436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gap: var(--spacing-md);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00600" y="3637483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00600" y="3786530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768px) {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800600" y="3935578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5CA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.bento-grid {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00600" y="4084625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5CA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grid-template-columns: 1fr;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800600" y="4233672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00600" y="4382719"/>
            <a:ext cx="3931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et déploiement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36576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commits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164592" cy="164592"/>
          </a:xfrm>
          <a:prstGeom prst="ellipse">
            <a:avLst/>
          </a:prstGeom>
          <a:solidFill>
            <a:srgbClr val="C49D83"/>
          </a:solidFill>
          <a:ln/>
        </p:spPr>
      </p:sp>
      <p:sp>
        <p:nvSpPr>
          <p:cNvPr id="7" name="Shape 5"/>
          <p:cNvSpPr/>
          <p:nvPr/>
        </p:nvSpPr>
        <p:spPr>
          <a:xfrm>
            <a:off x="534924" y="1517904"/>
            <a:ext cx="0" cy="237744"/>
          </a:xfrm>
          <a:prstGeom prst="line">
            <a:avLst/>
          </a:prstGeom>
          <a:noFill/>
          <a:ln w="12700">
            <a:solidFill>
              <a:srgbClr val="8C7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316736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59c9d0c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481328" y="1316736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029968" y="13167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: dépôt, arborescence, structure HTML de base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837944"/>
            <a:ext cx="164592" cy="164592"/>
          </a:xfrm>
          <a:prstGeom prst="ellipse">
            <a:avLst/>
          </a:prstGeom>
          <a:solidFill>
            <a:srgbClr val="C49D83"/>
          </a:solidFill>
          <a:ln/>
        </p:spPr>
      </p:sp>
      <p:sp>
        <p:nvSpPr>
          <p:cNvPr id="12" name="Shape 10"/>
          <p:cNvSpPr/>
          <p:nvPr/>
        </p:nvSpPr>
        <p:spPr>
          <a:xfrm>
            <a:off x="534924" y="2002536"/>
            <a:ext cx="0" cy="237744"/>
          </a:xfrm>
          <a:prstGeom prst="line">
            <a:avLst/>
          </a:prstGeom>
          <a:noFill/>
          <a:ln w="12700">
            <a:solidFill>
              <a:srgbClr val="8C7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801368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6892889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81328" y="1801368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22/06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029968" y="18013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: structure des 5 pages avec sections et contenu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22576"/>
            <a:ext cx="164592" cy="164592"/>
          </a:xfrm>
          <a:prstGeom prst="ellipse">
            <a:avLst/>
          </a:prstGeom>
          <a:solidFill>
            <a:srgbClr val="C49D83"/>
          </a:solidFill>
          <a:ln/>
        </p:spPr>
      </p:sp>
      <p:sp>
        <p:nvSpPr>
          <p:cNvPr id="17" name="Shape 15"/>
          <p:cNvSpPr/>
          <p:nvPr/>
        </p:nvSpPr>
        <p:spPr>
          <a:xfrm>
            <a:off x="534924" y="2487168"/>
            <a:ext cx="0" cy="237744"/>
          </a:xfrm>
          <a:prstGeom prst="line">
            <a:avLst/>
          </a:prstGeom>
          <a:noFill/>
          <a:ln w="12700">
            <a:solidFill>
              <a:srgbClr val="8C7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286000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792a9ff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481328" y="2286000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23/06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029968" y="228600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variables CSS, typographie, layout, styles de base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807208"/>
            <a:ext cx="164592" cy="164592"/>
          </a:xfrm>
          <a:prstGeom prst="ellipse">
            <a:avLst/>
          </a:prstGeom>
          <a:solidFill>
            <a:srgbClr val="C49D83"/>
          </a:solidFill>
          <a:ln/>
        </p:spPr>
      </p:sp>
      <p:sp>
        <p:nvSpPr>
          <p:cNvPr id="22" name="Shape 20"/>
          <p:cNvSpPr/>
          <p:nvPr/>
        </p:nvSpPr>
        <p:spPr>
          <a:xfrm>
            <a:off x="534924" y="2971800"/>
            <a:ext cx="0" cy="237744"/>
          </a:xfrm>
          <a:prstGeom prst="line">
            <a:avLst/>
          </a:prstGeom>
          <a:noFill/>
          <a:ln w="12700">
            <a:solidFill>
              <a:srgbClr val="8C7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277063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06956f0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481328" y="2770632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24/06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029968" y="27706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Bento Grid, hero, catégories, effets hover, index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291840"/>
            <a:ext cx="164592" cy="164592"/>
          </a:xfrm>
          <a:prstGeom prst="ellipse">
            <a:avLst/>
          </a:prstGeom>
          <a:solidFill>
            <a:srgbClr val="C49D83"/>
          </a:solidFill>
          <a:ln/>
        </p:spPr>
      </p:sp>
      <p:sp>
        <p:nvSpPr>
          <p:cNvPr id="27" name="Shape 25"/>
          <p:cNvSpPr/>
          <p:nvPr/>
        </p:nvSpPr>
        <p:spPr>
          <a:xfrm>
            <a:off x="534924" y="3456432"/>
            <a:ext cx="0" cy="237744"/>
          </a:xfrm>
          <a:prstGeom prst="line">
            <a:avLst/>
          </a:prstGeom>
          <a:noFill/>
          <a:ln w="12700">
            <a:solidFill>
              <a:srgbClr val="8C7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255264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2adfee6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481328" y="3255264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25/06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029968" y="32552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: responsive mobile/tablette, media queries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776472"/>
            <a:ext cx="164592" cy="164592"/>
          </a:xfrm>
          <a:prstGeom prst="ellipse">
            <a:avLst/>
          </a:prstGeom>
          <a:solidFill>
            <a:srgbClr val="C49D83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3739896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118e0fc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481328" y="3739896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27/06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029968" y="37398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: dark mode localStorage, navbar dynamique au scroll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17920" y="914400"/>
            <a:ext cx="2606040" cy="3931920"/>
          </a:xfrm>
          <a:prstGeom prst="rect">
            <a:avLst/>
          </a:prstGeom>
          <a:solidFill>
            <a:srgbClr val="1C1008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9875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355080" y="1325880"/>
            <a:ext cx="914400" cy="219456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13258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main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360920" y="1353312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5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 principale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355080" y="1984248"/>
            <a:ext cx="914400" cy="219456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19842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feature/*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360920" y="201168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5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par fonctionnalité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355080" y="2788920"/>
            <a:ext cx="2286000" cy="9144"/>
          </a:xfrm>
          <a:prstGeom prst="rect">
            <a:avLst/>
          </a:prstGeom>
          <a:solidFill>
            <a:srgbClr val="8C7B6B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29077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55080" y="31821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5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automatique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5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la branche main.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55080" y="36576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55080" y="38587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5CA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github.com/Mohamed-Lemine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5CA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-Drame-AfriTalent</a:t>
            </a:r>
            <a:endParaRPr lang="en-US" sz="800" dirty="0"/>
          </a:p>
        </p:txBody>
      </p:sp>
      <p:sp>
        <p:nvSpPr>
          <p:cNvPr id="56" name="Shape 29">
            <a:extLst>
              <a:ext uri="{FF2B5EF4-FFF2-40B4-BE49-F238E27FC236}">
                <a16:creationId xmlns:a16="http://schemas.microsoft.com/office/drawing/2014/main" id="{0373C65A-D415-84CA-99B1-736CA9219C5F}"/>
              </a:ext>
            </a:extLst>
          </p:cNvPr>
          <p:cNvSpPr/>
          <p:nvPr/>
        </p:nvSpPr>
        <p:spPr>
          <a:xfrm>
            <a:off x="463944" y="4301261"/>
            <a:ext cx="164592" cy="181051"/>
          </a:xfrm>
          <a:prstGeom prst="ellipse">
            <a:avLst/>
          </a:prstGeom>
          <a:solidFill>
            <a:srgbClr val="C49D83"/>
          </a:solidFill>
          <a:ln/>
        </p:spPr>
      </p:sp>
      <p:sp>
        <p:nvSpPr>
          <p:cNvPr id="57" name="Text 30">
            <a:extLst>
              <a:ext uri="{FF2B5EF4-FFF2-40B4-BE49-F238E27FC236}">
                <a16:creationId xmlns:a16="http://schemas.microsoft.com/office/drawing/2014/main" id="{6834CEA1-9044-DC8D-0EFB-5CCBB1336D92}"/>
              </a:ext>
            </a:extLst>
          </p:cNvPr>
          <p:cNvSpPr/>
          <p:nvPr/>
        </p:nvSpPr>
        <p:spPr>
          <a:xfrm>
            <a:off x="756552" y="4262856"/>
            <a:ext cx="749808" cy="221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accent4">
                    <a:lumMod val="75000"/>
                  </a:schemeClr>
                </a:solidFill>
              </a:rPr>
              <a:t>84e4fe7</a:t>
            </a:r>
          </a:p>
        </p:txBody>
      </p:sp>
      <p:sp>
        <p:nvSpPr>
          <p:cNvPr id="58" name="Text 31">
            <a:extLst>
              <a:ext uri="{FF2B5EF4-FFF2-40B4-BE49-F238E27FC236}">
                <a16:creationId xmlns:a16="http://schemas.microsoft.com/office/drawing/2014/main" id="{6CA1632C-0ACF-48C4-B397-0AFF0E7BF16A}"/>
              </a:ext>
            </a:extLst>
          </p:cNvPr>
          <p:cNvSpPr/>
          <p:nvPr/>
        </p:nvSpPr>
        <p:spPr>
          <a:xfrm>
            <a:off x="1488072" y="4262856"/>
            <a:ext cx="566928" cy="221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28/06</a:t>
            </a:r>
            <a:endParaRPr lang="en-US" sz="750" dirty="0"/>
          </a:p>
        </p:txBody>
      </p:sp>
      <p:sp>
        <p:nvSpPr>
          <p:cNvPr id="59" name="Text 32">
            <a:extLst>
              <a:ext uri="{FF2B5EF4-FFF2-40B4-BE49-F238E27FC236}">
                <a16:creationId xmlns:a16="http://schemas.microsoft.com/office/drawing/2014/main" id="{34A72F14-DBCD-7468-9B84-5D7D5C649B14}"/>
              </a:ext>
            </a:extLst>
          </p:cNvPr>
          <p:cNvSpPr/>
          <p:nvPr/>
        </p:nvSpPr>
        <p:spPr>
          <a:xfrm>
            <a:off x="2036712" y="4261963"/>
            <a:ext cx="4181208" cy="2409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SN" sz="1000" dirty="0">
                <a:solidFill>
                  <a:schemeClr val="bg1"/>
                </a:solidFill>
              </a:rPr>
              <a:t>JS : compteurs animés au scroll et animations fade-in des sections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60" name="Shape 29">
            <a:extLst>
              <a:ext uri="{FF2B5EF4-FFF2-40B4-BE49-F238E27FC236}">
                <a16:creationId xmlns:a16="http://schemas.microsoft.com/office/drawing/2014/main" id="{EF5F1B26-CA17-9082-9C33-2DD67B5D6FB6}"/>
              </a:ext>
            </a:extLst>
          </p:cNvPr>
          <p:cNvSpPr/>
          <p:nvPr/>
        </p:nvSpPr>
        <p:spPr>
          <a:xfrm>
            <a:off x="475488" y="4843978"/>
            <a:ext cx="164592" cy="164592"/>
          </a:xfrm>
          <a:prstGeom prst="ellipse">
            <a:avLst/>
          </a:prstGeom>
          <a:solidFill>
            <a:srgbClr val="C49D83"/>
          </a:solidFill>
          <a:ln/>
        </p:spPr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5D0280A7-55DE-237A-C675-6DCEEBD6E8C4}"/>
              </a:ext>
            </a:extLst>
          </p:cNvPr>
          <p:cNvSpPr/>
          <p:nvPr/>
        </p:nvSpPr>
        <p:spPr>
          <a:xfrm>
            <a:off x="768096" y="4807402"/>
            <a:ext cx="749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chemeClr val="accent4">
                    <a:lumMod val="75000"/>
                  </a:schemeClr>
                </a:solidFill>
              </a:rPr>
              <a:t>15c0ff5</a:t>
            </a:r>
          </a:p>
        </p:txBody>
      </p:sp>
      <p:sp>
        <p:nvSpPr>
          <p:cNvPr id="62" name="Text 31">
            <a:extLst>
              <a:ext uri="{FF2B5EF4-FFF2-40B4-BE49-F238E27FC236}">
                <a16:creationId xmlns:a16="http://schemas.microsoft.com/office/drawing/2014/main" id="{A3889E40-AADA-9995-A0F5-F7EC759E2CC7}"/>
              </a:ext>
            </a:extLst>
          </p:cNvPr>
          <p:cNvSpPr/>
          <p:nvPr/>
        </p:nvSpPr>
        <p:spPr>
          <a:xfrm>
            <a:off x="1499616" y="4807402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29/06</a:t>
            </a:r>
            <a:endParaRPr lang="en-US" sz="750" dirty="0"/>
          </a:p>
        </p:txBody>
      </p:sp>
      <p:sp>
        <p:nvSpPr>
          <p:cNvPr id="63" name="Text 32">
            <a:extLst>
              <a:ext uri="{FF2B5EF4-FFF2-40B4-BE49-F238E27FC236}">
                <a16:creationId xmlns:a16="http://schemas.microsoft.com/office/drawing/2014/main" id="{FB057A8F-2C57-0EC0-AE15-46861E440FF3}"/>
              </a:ext>
            </a:extLst>
          </p:cNvPr>
          <p:cNvSpPr/>
          <p:nvPr/>
        </p:nvSpPr>
        <p:spPr>
          <a:xfrm>
            <a:off x="2048256" y="4807402"/>
            <a:ext cx="4181208" cy="219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SN" sz="1000" dirty="0">
                <a:solidFill>
                  <a:schemeClr val="bg1"/>
                </a:solidFill>
              </a:rPr>
              <a:t>JS : filtrage dynamique des freelances et validation du formulaire de contact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64" name="Shape 25">
            <a:extLst>
              <a:ext uri="{FF2B5EF4-FFF2-40B4-BE49-F238E27FC236}">
                <a16:creationId xmlns:a16="http://schemas.microsoft.com/office/drawing/2014/main" id="{89B6949A-8162-9B3C-EB27-82AF6C157F1F}"/>
              </a:ext>
            </a:extLst>
          </p:cNvPr>
          <p:cNvSpPr/>
          <p:nvPr/>
        </p:nvSpPr>
        <p:spPr>
          <a:xfrm>
            <a:off x="558701" y="3941064"/>
            <a:ext cx="0" cy="237744"/>
          </a:xfrm>
          <a:prstGeom prst="line">
            <a:avLst/>
          </a:prstGeom>
          <a:noFill/>
          <a:ln w="12700">
            <a:solidFill>
              <a:srgbClr val="8C7B6B"/>
            </a:solidFill>
            <a:prstDash val="solid"/>
          </a:ln>
        </p:spPr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3F502714-53CC-9BA9-CAF6-82CCC3FBB3E6}"/>
              </a:ext>
            </a:extLst>
          </p:cNvPr>
          <p:cNvSpPr/>
          <p:nvPr/>
        </p:nvSpPr>
        <p:spPr>
          <a:xfrm flipH="1">
            <a:off x="550162" y="4482312"/>
            <a:ext cx="0" cy="227253"/>
          </a:xfrm>
          <a:prstGeom prst="line">
            <a:avLst/>
          </a:prstGeom>
          <a:noFill/>
          <a:ln w="12700">
            <a:solidFill>
              <a:srgbClr val="8C7B6B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 et solutions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36576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Le dark mode se réinitialisait à chaque changement de page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16152"/>
            <a:ext cx="54864" cy="822960"/>
          </a:xfrm>
          <a:prstGeom prst="rect">
            <a:avLst/>
          </a:prstGeom>
          <a:solidFill>
            <a:srgbClr val="BDA18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16152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Quand l'utilisateur activait le dark mode puis naviguait vers une autre page, le mode repassait en clair car l'état du body n'était pas conservé.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36592" y="1216152"/>
            <a:ext cx="54864" cy="822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4919472" y="1216152"/>
            <a:ext cx="39136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J'ai utilisé localStorage pour sauvegarder le thème choisi (dark ou light). Au début de chaque page, main.js lit cette valeur et applique la classe dark-mode si besoin.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9144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134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Le Bento Grid cassait sur les petits écrans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33472"/>
            <a:ext cx="54864" cy="822960"/>
          </a:xfrm>
          <a:prstGeom prst="rect">
            <a:avLst/>
          </a:prstGeom>
          <a:solidFill>
            <a:srgbClr val="BDA18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33472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La grille en display:grid avec 3 colonnes débordait sur mobile et rendait le contenu illisible sur smartphone.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36592" y="2633472"/>
            <a:ext cx="54864" cy="822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4919472" y="2633472"/>
            <a:ext cx="39136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J'ai ajouté une media query @media (max-width: 768px) pour passer à une seule colonne. J'ai aussi utilisé les classes Bootstrap col-12 en complément.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9144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307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Conflit entre les styles Bootstrap et mon CSS custom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050792"/>
            <a:ext cx="54864" cy="822960"/>
          </a:xfrm>
          <a:prstGeom prst="rect">
            <a:avLst/>
          </a:prstGeom>
          <a:solidFill>
            <a:srgbClr val="BDA18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50792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: Les styles Bootstrap sur .navbar prenaient le dessus sur mes variables CSS, ce qui créait des couleurs incohérentes notamment au scroll.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36592" y="4050792"/>
            <a:ext cx="54864" cy="822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4919472" y="4050792"/>
            <a:ext cx="39136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J'ai utilisé le sélecteur .navbar.scrolled plus spécifique pour écraser Bootstrap, et j'ai appliqué mes variables --color-primary directement sur ce sélecteur.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et documentation utilisées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36576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officielle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54864" cy="310896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24358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pour tout ce qui touche HTML, CSS, JavaScript, le DOM et localStorage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54864" cy="310896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174650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— documentation officielle pour les composants, le grid, les utilitaires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54864" cy="310896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24942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— pour intégrer Playfair Display et Poppins via @import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0" y="9144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apprendre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261872"/>
            <a:ext cx="54864" cy="310896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14" name="Text 12"/>
          <p:cNvSpPr/>
          <p:nvPr/>
        </p:nvSpPr>
        <p:spPr>
          <a:xfrm>
            <a:off x="4919472" y="124358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OpenClassrooms — cours HTML/CSS et JavaScript pour les bases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764792"/>
            <a:ext cx="54864" cy="310896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174650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W3Schools — référence rapide quand je cherchais une propriété précise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267712"/>
            <a:ext cx="54864" cy="310896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2249424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CSS-Tricks — pour comprendre Flexbox et CSS Grid en profondeur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90779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55264"/>
            <a:ext cx="54864" cy="310896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" y="323697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avec l'extension Live Server — pour coder et voir les changements en direct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758184"/>
            <a:ext cx="54864" cy="310896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373989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DevTools — pour déboguer le CSS et tester le responsive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261104"/>
            <a:ext cx="54864" cy="310896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24281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 — pour versionner et déployer le projet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290779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Inspiration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255264"/>
            <a:ext cx="54864" cy="310896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28" name="Text 26"/>
          <p:cNvSpPr/>
          <p:nvPr/>
        </p:nvSpPr>
        <p:spPr>
          <a:xfrm>
            <a:off x="4919472" y="323697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Coolors.co — pour générer et valider la palette de couleurs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758184"/>
            <a:ext cx="54864" cy="310896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3739896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et LinkedIn — pour les idées d'interface et de mise en page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33005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1412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4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site AfriTalent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01652"/>
            <a:ext cx="8229600" cy="9144"/>
          </a:xfrm>
          <a:prstGeom prst="rect">
            <a:avLst/>
          </a:prstGeom>
          <a:solidFill>
            <a:srgbClr val="8C7B6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4520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je vais montrer 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2288429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Navigation entre les 5 pages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2635901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Le Bento Grid et le hero de l'accueil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2983373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La grille de freelances et les filtres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3330845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Le dark mode (activation + rechargement)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3678317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La navbar qui change au scroll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8485" y="4202598"/>
            <a:ext cx="8707030" cy="643722"/>
          </a:xfrm>
          <a:prstGeom prst="rect">
            <a:avLst/>
          </a:prstGeom>
          <a:solidFill>
            <a:srgbClr val="C49D83"/>
          </a:solidFill>
          <a:ln/>
        </p:spPr>
        <p:txBody>
          <a:bodyPr/>
          <a:lstStyle/>
          <a:p>
            <a:r>
              <a:rPr lang="fr-SN" dirty="0"/>
              <a:t>https://mohamed-lemine-drame-afritalent.github.io/Dram--Mohamed-Lemine-AfriTalent/</a:t>
            </a:r>
          </a:p>
        </p:txBody>
      </p:sp>
      <p:sp>
        <p:nvSpPr>
          <p:cNvPr id="13" name="Text 11"/>
          <p:cNvSpPr/>
          <p:nvPr/>
        </p:nvSpPr>
        <p:spPr>
          <a:xfrm>
            <a:off x="1828800" y="48463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et perspectives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097280" cy="36576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 projet m'a apporté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43584"/>
            <a:ext cx="128016" cy="128016"/>
          </a:xfrm>
          <a:prstGeom prst="ellipse">
            <a:avLst/>
          </a:prstGeom>
          <a:solidFill>
            <a:srgbClr val="C49D83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188720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Travailler avec des variables CSS (:root) pour avoir un code maintenable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128016" cy="128016"/>
          </a:xfrm>
          <a:prstGeom prst="ellipse">
            <a:avLst/>
          </a:prstGeom>
          <a:solidFill>
            <a:srgbClr val="C49D83"/>
          </a:solidFill>
          <a:ln/>
        </p:spPr>
      </p:sp>
      <p:sp>
        <p:nvSpPr>
          <p:cNvPr id="9" name="Text 7"/>
          <p:cNvSpPr/>
          <p:nvPr/>
        </p:nvSpPr>
        <p:spPr>
          <a:xfrm>
            <a:off x="694944" y="1609344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le CSS Grid pour créer une mise en page Bento originale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128016" cy="128016"/>
          </a:xfrm>
          <a:prstGeom prst="ellipse">
            <a:avLst/>
          </a:prstGeom>
          <a:solidFill>
            <a:srgbClr val="C49D83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02996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Manipuler le DOM avec JavaScript et l'API localStorage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128016" cy="128016"/>
          </a:xfrm>
          <a:prstGeom prst="ellipse">
            <a:avLst/>
          </a:prstGeom>
          <a:solidFill>
            <a:srgbClr val="C49D83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" y="2450592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un site responsive avec Bootstrap et des media queries CSS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128016" cy="128016"/>
          </a:xfrm>
          <a:prstGeom prst="ellipse">
            <a:avLst/>
          </a:prstGeom>
          <a:solidFill>
            <a:srgbClr val="C49D83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" y="2871216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un projet avec Git : commit réguliers, messages clairs, GitHub Pages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01568"/>
            <a:ext cx="8229600" cy="9144"/>
          </a:xfrm>
          <a:prstGeom prst="rect">
            <a:avLst/>
          </a:prstGeom>
          <a:solidFill>
            <a:srgbClr val="D5CAB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20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4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j'aimerais améliorer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13632"/>
            <a:ext cx="54864" cy="237744"/>
          </a:xfrm>
          <a:prstGeom prst="rect">
            <a:avLst/>
          </a:prstGeom>
          <a:solidFill>
            <a:srgbClr val="BDA18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8862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 vrai backend (Node.js) pour gérer les profils en base de données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54864" cy="237744"/>
          </a:xfrm>
          <a:prstGeom prst="rect">
            <a:avLst/>
          </a:prstGeom>
          <a:solidFill>
            <a:srgbClr val="BDA18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27024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authentification pour que les talents puissent créer un compte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681728"/>
            <a:ext cx="54864" cy="237744"/>
          </a:xfrm>
          <a:prstGeom prst="rect">
            <a:avLst/>
          </a:prstGeom>
          <a:solidFill>
            <a:srgbClr val="BDA18A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65429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les animations et les transitions entre les pages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1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2148840"/>
            <a:ext cx="2743200" cy="36576"/>
          </a:xfrm>
          <a:prstGeom prst="rect">
            <a:avLst/>
          </a:prstGeom>
          <a:solidFill>
            <a:srgbClr val="C49D8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331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Lemine Dramé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5CA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1 — Réseau &amp; Télécommunication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358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: AfriTalent — Plateforme de mise en relation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8229600" cy="9144"/>
          </a:xfrm>
          <a:prstGeom prst="rect">
            <a:avLst/>
          </a:prstGeom>
          <a:solidFill>
            <a:srgbClr val="8C7B6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49D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1657</Words>
  <Application>Microsoft Office PowerPoint</Application>
  <PresentationFormat>Affichage à l'écran (16:9)</PresentationFormat>
  <Paragraphs>251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Dramé</cp:lastModifiedBy>
  <cp:revision>2</cp:revision>
  <dcterms:created xsi:type="dcterms:W3CDTF">2026-06-28T01:20:24Z</dcterms:created>
  <dcterms:modified xsi:type="dcterms:W3CDTF">2026-07-01T13:31:03Z</dcterms:modified>
</cp:coreProperties>
</file>